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eff8d6d3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eff8d6d3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eff8d6d3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eff8d6d3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eff8d6d3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0eff8d6d3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0eff8d6d3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0eff8d6d3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0eff8d6d3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0eff8d6d3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0eff8d6d3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0eff8d6d3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eff8d6d3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eff8d6d3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eff8d6d3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eff8d6d3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eff8d6d3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eff8d6d3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Team Foint Glizzy</a:t>
            </a:r>
            <a:endParaRPr/>
          </a:p>
        </p:txBody>
      </p:sp>
      <p:sp>
        <p:nvSpPr>
          <p:cNvPr id="55" name="Google Shape;55;p13"/>
          <p:cNvSpPr txBox="1"/>
          <p:nvPr>
            <p:ph idx="1" type="subTitle"/>
          </p:nvPr>
        </p:nvSpPr>
        <p:spPr>
          <a:xfrm>
            <a:off x="311700" y="1440975"/>
            <a:ext cx="8520600" cy="2167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Team Foint Glizzy will be creating</a:t>
            </a:r>
            <a:endParaRPr sz="2000"/>
          </a:p>
          <a:p>
            <a:pPr indent="0" lvl="0" marL="0" rtl="0" algn="ctr">
              <a:spcBef>
                <a:spcPts val="0"/>
              </a:spcBef>
              <a:spcAft>
                <a:spcPts val="0"/>
              </a:spcAft>
              <a:buNone/>
            </a:pPr>
            <a:r>
              <a:rPr lang="en" sz="2000"/>
              <a:t>a game for our Senior Design Project.</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Team</a:t>
            </a:r>
            <a:endParaRPr/>
          </a:p>
        </p:txBody>
      </p:sp>
      <p:sp>
        <p:nvSpPr>
          <p:cNvPr id="61" name="Google Shape;61;p14"/>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fontScale="47500" lnSpcReduction="20000"/>
          </a:bodyPr>
          <a:lstStyle/>
          <a:p>
            <a:pPr indent="-376810" lvl="0" marL="457200" rtl="0" algn="l">
              <a:lnSpc>
                <a:spcPct val="115000"/>
              </a:lnSpc>
              <a:spcBef>
                <a:spcPts val="1200"/>
              </a:spcBef>
              <a:spcAft>
                <a:spcPts val="0"/>
              </a:spcAft>
              <a:buClr>
                <a:schemeClr val="dk1"/>
              </a:buClr>
              <a:buSzPct val="100000"/>
              <a:buChar char="●"/>
            </a:pPr>
            <a:r>
              <a:rPr b="1" lang="en" sz="4913">
                <a:solidFill>
                  <a:schemeClr val="dk1"/>
                </a:solidFill>
              </a:rPr>
              <a:t>Bailin Zhen</a:t>
            </a:r>
            <a:br>
              <a:rPr lang="en" sz="4913">
                <a:solidFill>
                  <a:schemeClr val="dk1"/>
                </a:solidFill>
              </a:rPr>
            </a:br>
            <a:r>
              <a:rPr lang="en" sz="4913">
                <a:solidFill>
                  <a:schemeClr val="dk1"/>
                </a:solidFill>
              </a:rPr>
              <a:t> Email: zhenbn@mail.uc.edu</a:t>
            </a:r>
            <a:endParaRPr sz="4913">
              <a:solidFill>
                <a:schemeClr val="dk1"/>
              </a:solidFill>
            </a:endParaRPr>
          </a:p>
          <a:p>
            <a:pPr indent="-376810" lvl="0" marL="457200" rtl="0" algn="l">
              <a:lnSpc>
                <a:spcPct val="115000"/>
              </a:lnSpc>
              <a:spcBef>
                <a:spcPts val="0"/>
              </a:spcBef>
              <a:spcAft>
                <a:spcPts val="0"/>
              </a:spcAft>
              <a:buClr>
                <a:schemeClr val="dk1"/>
              </a:buClr>
              <a:buSzPct val="100000"/>
              <a:buChar char="●"/>
            </a:pPr>
            <a:r>
              <a:rPr b="1" lang="en" sz="4913">
                <a:solidFill>
                  <a:schemeClr val="dk1"/>
                </a:solidFill>
              </a:rPr>
              <a:t>Matthew Estes</a:t>
            </a:r>
            <a:br>
              <a:rPr lang="en" sz="4913">
                <a:solidFill>
                  <a:schemeClr val="dk1"/>
                </a:solidFill>
              </a:rPr>
            </a:br>
            <a:r>
              <a:rPr lang="en" sz="4913">
                <a:solidFill>
                  <a:schemeClr val="dk1"/>
                </a:solidFill>
              </a:rPr>
              <a:t> Email: estesmw@mail.uc.edu</a:t>
            </a:r>
            <a:endParaRPr sz="4913">
              <a:solidFill>
                <a:schemeClr val="dk1"/>
              </a:solidFill>
            </a:endParaRPr>
          </a:p>
          <a:p>
            <a:pPr indent="-376810" lvl="0" marL="457200" rtl="0" algn="l">
              <a:lnSpc>
                <a:spcPct val="115000"/>
              </a:lnSpc>
              <a:spcBef>
                <a:spcPts val="0"/>
              </a:spcBef>
              <a:spcAft>
                <a:spcPts val="0"/>
              </a:spcAft>
              <a:buClr>
                <a:schemeClr val="dk1"/>
              </a:buClr>
              <a:buSzPct val="100000"/>
              <a:buChar char="●"/>
            </a:pPr>
            <a:r>
              <a:rPr b="1" lang="en" sz="4913">
                <a:solidFill>
                  <a:schemeClr val="dk1"/>
                </a:solidFill>
              </a:rPr>
              <a:t>Vitta Silberberg</a:t>
            </a:r>
            <a:br>
              <a:rPr lang="en" sz="4913">
                <a:solidFill>
                  <a:schemeClr val="dk1"/>
                </a:solidFill>
              </a:rPr>
            </a:br>
            <a:r>
              <a:rPr lang="en" sz="4913">
                <a:solidFill>
                  <a:schemeClr val="dk1"/>
                </a:solidFill>
              </a:rPr>
              <a:t> Email: silberjm@mail.uc.ed</a:t>
            </a:r>
            <a:r>
              <a:rPr lang="en" sz="4913">
                <a:solidFill>
                  <a:schemeClr val="dk1"/>
                </a:solidFill>
              </a:rPr>
              <a:t>u</a:t>
            </a:r>
            <a:endParaRPr sz="4913">
              <a:solidFill>
                <a:schemeClr val="dk1"/>
              </a:solidFill>
            </a:endParaRPr>
          </a:p>
          <a:p>
            <a:pPr indent="-386091" lvl="0" marL="457200" rtl="0" algn="l">
              <a:lnSpc>
                <a:spcPct val="115000"/>
              </a:lnSpc>
              <a:spcBef>
                <a:spcPts val="0"/>
              </a:spcBef>
              <a:spcAft>
                <a:spcPts val="0"/>
              </a:spcAft>
              <a:buClr>
                <a:schemeClr val="dk1"/>
              </a:buClr>
              <a:buSzPct val="106262"/>
              <a:buChar char="●"/>
            </a:pPr>
            <a:r>
              <a:rPr b="1" lang="en" sz="4913">
                <a:solidFill>
                  <a:schemeClr val="dk1"/>
                </a:solidFill>
              </a:rPr>
              <a:t>Hari Koirala</a:t>
            </a:r>
            <a:br>
              <a:rPr lang="en" sz="4913">
                <a:solidFill>
                  <a:schemeClr val="dk1"/>
                </a:solidFill>
              </a:rPr>
            </a:br>
            <a:r>
              <a:rPr lang="en" sz="4913">
                <a:solidFill>
                  <a:schemeClr val="dk1"/>
                </a:solidFill>
              </a:rPr>
              <a:t> Email: koiralhi@mail.uc.edu</a:t>
            </a:r>
            <a:endParaRPr sz="4913">
              <a:solidFill>
                <a:schemeClr val="dk1"/>
              </a:solidFill>
            </a:endParaRPr>
          </a:p>
          <a:p>
            <a:pPr indent="-386091" lvl="0" marL="457200" rtl="0" algn="l">
              <a:lnSpc>
                <a:spcPct val="115000"/>
              </a:lnSpc>
              <a:spcBef>
                <a:spcPts val="0"/>
              </a:spcBef>
              <a:spcAft>
                <a:spcPts val="0"/>
              </a:spcAft>
              <a:buClr>
                <a:schemeClr val="dk1"/>
              </a:buClr>
              <a:buSzPct val="100000"/>
              <a:buChar char="●"/>
            </a:pPr>
            <a:r>
              <a:rPr b="1" lang="en" sz="5221">
                <a:solidFill>
                  <a:schemeClr val="dk1"/>
                </a:solidFill>
              </a:rPr>
              <a:t>Advisor : Evan Torner</a:t>
            </a:r>
            <a:br>
              <a:rPr lang="en" sz="5221">
                <a:solidFill>
                  <a:schemeClr val="dk1"/>
                </a:solidFill>
              </a:rPr>
            </a:br>
            <a:r>
              <a:rPr lang="en" sz="5221">
                <a:solidFill>
                  <a:schemeClr val="dk1"/>
                </a:solidFill>
              </a:rPr>
              <a:t>Email : torneren@ucmail.uc.edu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Abstract</a:t>
            </a:r>
            <a:endParaRPr/>
          </a:p>
        </p:txBody>
      </p:sp>
      <p:sp>
        <p:nvSpPr>
          <p:cNvPr id="67" name="Google Shape;67;p15"/>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1200"/>
              </a:spcBef>
              <a:spcAft>
                <a:spcPts val="1200"/>
              </a:spcAft>
              <a:buNone/>
            </a:pPr>
            <a:r>
              <a:rPr lang="en"/>
              <a:t>We plan on creating a fantasy 2D action roguelike cave-diving game with a character-based ability system. Randomized item drops and semi-randomized maps and enemies will create varying playthroughs so each run is a new experience.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User Stories</a:t>
            </a:r>
            <a:endParaRPr/>
          </a:p>
        </p:txBody>
      </p:sp>
      <p:sp>
        <p:nvSpPr>
          <p:cNvPr id="73" name="Google Shape;73;p16"/>
          <p:cNvSpPr txBox="1"/>
          <p:nvPr>
            <p:ph idx="1" type="subTitle"/>
          </p:nvPr>
        </p:nvSpPr>
        <p:spPr>
          <a:xfrm>
            <a:off x="311700" y="1120750"/>
            <a:ext cx="4260300" cy="1903500"/>
          </a:xfrm>
          <a:prstGeom prst="rect">
            <a:avLst/>
          </a:prstGeom>
        </p:spPr>
        <p:txBody>
          <a:bodyPr anchorCtr="0" anchor="t" bIns="91425" lIns="91425" spcFirstLastPara="1" rIns="91425" wrap="square" tIns="91425">
            <a:normAutofit fontScale="40000"/>
          </a:bodyPr>
          <a:lstStyle/>
          <a:p>
            <a:pPr indent="0" lvl="0" marL="457200" rtl="0" algn="l">
              <a:lnSpc>
                <a:spcPct val="115000"/>
              </a:lnSpc>
              <a:spcBef>
                <a:spcPts val="1200"/>
              </a:spcBef>
              <a:spcAft>
                <a:spcPts val="1200"/>
              </a:spcAft>
              <a:buNone/>
            </a:pPr>
            <a:r>
              <a:rPr lang="en"/>
              <a:t>As a Player, I want to be able to find useful loot as I progress through the levels. This enables me to have fun and </a:t>
            </a:r>
            <a:r>
              <a:rPr lang="en"/>
              <a:t>challenge</a:t>
            </a:r>
            <a:r>
              <a:rPr lang="en"/>
              <a:t> myself to a higher level. As a Player, I want to fight a variety of enemies that are unique and fight bosses that have </a:t>
            </a:r>
            <a:r>
              <a:rPr lang="en"/>
              <a:t>interesting</a:t>
            </a:r>
            <a:r>
              <a:rPr lang="en"/>
              <a:t> mechanics. As a Developer, I want to create a scalable loot system so when I need to add something new, </a:t>
            </a:r>
            <a:r>
              <a:rPr lang="en"/>
              <a:t>it's</a:t>
            </a:r>
            <a:r>
              <a:rPr lang="en"/>
              <a:t> easy to do and something I could balance easily. - Hari Koirala</a:t>
            </a:r>
            <a:endParaRPr/>
          </a:p>
        </p:txBody>
      </p:sp>
      <p:sp>
        <p:nvSpPr>
          <p:cNvPr id="74" name="Google Shape;74;p16"/>
          <p:cNvSpPr txBox="1"/>
          <p:nvPr>
            <p:ph idx="1" type="subTitle"/>
          </p:nvPr>
        </p:nvSpPr>
        <p:spPr>
          <a:xfrm>
            <a:off x="4572000" y="1120750"/>
            <a:ext cx="4260300" cy="1903500"/>
          </a:xfrm>
          <a:prstGeom prst="rect">
            <a:avLst/>
          </a:prstGeom>
        </p:spPr>
        <p:txBody>
          <a:bodyPr anchorCtr="0" anchor="t" bIns="91425" lIns="91425" spcFirstLastPara="1" rIns="91425" wrap="square" tIns="91425">
            <a:normAutofit fontScale="47500"/>
          </a:bodyPr>
          <a:lstStyle/>
          <a:p>
            <a:pPr indent="0" lvl="0" marL="457200" rtl="0" algn="l">
              <a:lnSpc>
                <a:spcPct val="115000"/>
              </a:lnSpc>
              <a:spcBef>
                <a:spcPts val="1200"/>
              </a:spcBef>
              <a:spcAft>
                <a:spcPts val="1200"/>
              </a:spcAft>
              <a:buNone/>
            </a:pPr>
            <a:r>
              <a:rPr lang="en"/>
              <a:t>As a player, I want to feel each run is unique and different, while still feeling that I could always succeed with enough skill. The randomness should force me to use different tactics and </a:t>
            </a:r>
            <a:r>
              <a:rPr lang="en"/>
              <a:t>play styles</a:t>
            </a:r>
            <a:r>
              <a:rPr lang="en"/>
              <a:t> each run while still being balanced so that even extremely bad luck can be overcome with skill. - Bailin Zhen</a:t>
            </a:r>
            <a:endParaRPr/>
          </a:p>
        </p:txBody>
      </p:sp>
      <p:sp>
        <p:nvSpPr>
          <p:cNvPr id="75" name="Google Shape;75;p16"/>
          <p:cNvSpPr txBox="1"/>
          <p:nvPr>
            <p:ph idx="1" type="subTitle"/>
          </p:nvPr>
        </p:nvSpPr>
        <p:spPr>
          <a:xfrm>
            <a:off x="311700" y="3024250"/>
            <a:ext cx="4260300" cy="21192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1200"/>
              </a:spcBef>
              <a:spcAft>
                <a:spcPts val="0"/>
              </a:spcAft>
              <a:buNone/>
            </a:pPr>
            <a:r>
              <a:rPr lang="en" sz="1100"/>
              <a:t>As a player, I want a game with familiar, learnable mechanics which reward practice and skilled gameplay. Elements of randomness should affect the decisions I make, rather than the likelihood that I succeed. As a developer, I want to create game mechanics which feel rewarding and intuitive. Game design decisions are paramount to me, and I want them to be visibly strong to any outside perspective.</a:t>
            </a:r>
            <a:endParaRPr sz="1100"/>
          </a:p>
          <a:p>
            <a:pPr indent="0" lvl="0" marL="0" rtl="0" algn="l">
              <a:lnSpc>
                <a:spcPct val="115000"/>
              </a:lnSpc>
              <a:spcBef>
                <a:spcPts val="1200"/>
              </a:spcBef>
              <a:spcAft>
                <a:spcPts val="1200"/>
              </a:spcAft>
              <a:buNone/>
            </a:pPr>
            <a:r>
              <a:rPr lang="en" sz="1100"/>
              <a:t>	- Vitta Silberberg</a:t>
            </a:r>
            <a:endParaRPr sz="1100"/>
          </a:p>
        </p:txBody>
      </p:sp>
      <p:sp>
        <p:nvSpPr>
          <p:cNvPr id="76" name="Google Shape;76;p16"/>
          <p:cNvSpPr txBox="1"/>
          <p:nvPr>
            <p:ph idx="1" type="subTitle"/>
          </p:nvPr>
        </p:nvSpPr>
        <p:spPr>
          <a:xfrm>
            <a:off x="4572000" y="3024250"/>
            <a:ext cx="4260300" cy="19035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1200"/>
              </a:spcBef>
              <a:spcAft>
                <a:spcPts val="1200"/>
              </a:spcAft>
              <a:buNone/>
            </a:pPr>
            <a:r>
              <a:rPr lang="en" sz="1300"/>
              <a:t>As a player, I want the code to run efficiently on my machine so that it doesn’t overuse processing power. This will allow my system to handle the game smoothly, without lag or slowdowns. Ultimately, I want to enjoy a seamless and engaging experience without technical interruptions. - Matthew Estes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ctrTitle"/>
          </p:nvPr>
        </p:nvSpPr>
        <p:spPr>
          <a:xfrm>
            <a:off x="142625" y="1775100"/>
            <a:ext cx="2923500" cy="1496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Design Diagram</a:t>
            </a:r>
            <a:endParaRPr/>
          </a:p>
        </p:txBody>
      </p:sp>
      <p:pic>
        <p:nvPicPr>
          <p:cNvPr id="82" name="Google Shape;82;p17"/>
          <p:cNvPicPr preferRelativeResize="0"/>
          <p:nvPr/>
        </p:nvPicPr>
        <p:blipFill rotWithShape="1">
          <a:blip r:embed="rId3">
            <a:alphaModFix/>
          </a:blip>
          <a:srcRect b="688" l="2950" r="-2950" t="18346"/>
          <a:stretch/>
        </p:blipFill>
        <p:spPr>
          <a:xfrm>
            <a:off x="2796001" y="0"/>
            <a:ext cx="6348000" cy="5046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Project Constraints</a:t>
            </a:r>
            <a:endParaRPr/>
          </a:p>
        </p:txBody>
      </p:sp>
      <p:sp>
        <p:nvSpPr>
          <p:cNvPr id="88" name="Google Shape;88;p18"/>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fontScale="70000" lnSpcReduction="10000"/>
          </a:bodyPr>
          <a:lstStyle/>
          <a:p>
            <a:pPr indent="-353060" lvl="0" marL="457200" rtl="0" algn="l">
              <a:lnSpc>
                <a:spcPct val="115000"/>
              </a:lnSpc>
              <a:spcBef>
                <a:spcPts val="1200"/>
              </a:spcBef>
              <a:spcAft>
                <a:spcPts val="0"/>
              </a:spcAft>
              <a:buSzPct val="100000"/>
              <a:buChar char="-"/>
            </a:pPr>
            <a:r>
              <a:rPr lang="en"/>
              <a:t>Economic Constraints</a:t>
            </a:r>
            <a:endParaRPr/>
          </a:p>
          <a:p>
            <a:pPr indent="-353060" lvl="1" marL="1371600" rtl="0" algn="l">
              <a:lnSpc>
                <a:spcPct val="115000"/>
              </a:lnSpc>
              <a:spcBef>
                <a:spcPts val="0"/>
              </a:spcBef>
              <a:spcAft>
                <a:spcPts val="0"/>
              </a:spcAft>
              <a:buSzPct val="100000"/>
              <a:buChar char="-"/>
            </a:pPr>
            <a:r>
              <a:rPr lang="en"/>
              <a:t>We are lacking in our budget to hire professional artists for music/sound/art design, and none of us are art students. We need to either make our own ameteur assets or use free/cheap assets</a:t>
            </a:r>
            <a:endParaRPr/>
          </a:p>
          <a:p>
            <a:pPr indent="-353060" lvl="0" marL="457200" rtl="0" algn="l">
              <a:lnSpc>
                <a:spcPct val="115000"/>
              </a:lnSpc>
              <a:spcBef>
                <a:spcPts val="0"/>
              </a:spcBef>
              <a:spcAft>
                <a:spcPts val="0"/>
              </a:spcAft>
              <a:buSzPct val="100000"/>
              <a:buChar char="-"/>
            </a:pPr>
            <a:r>
              <a:rPr lang="en"/>
              <a:t>Security Constraints</a:t>
            </a:r>
            <a:endParaRPr/>
          </a:p>
          <a:p>
            <a:pPr indent="-353060" lvl="1" marL="1371600" rtl="0" algn="l">
              <a:lnSpc>
                <a:spcPct val="115000"/>
              </a:lnSpc>
              <a:spcBef>
                <a:spcPts val="0"/>
              </a:spcBef>
              <a:spcAft>
                <a:spcPts val="0"/>
              </a:spcAft>
              <a:buSzPct val="100000"/>
              <a:buChar char="-"/>
            </a:pPr>
            <a:r>
              <a:rPr lang="en"/>
              <a:t>If we reach our stretch goal of multiplayer, we must ensure player security.</a:t>
            </a:r>
            <a:endParaRPr/>
          </a:p>
          <a:p>
            <a:pPr indent="-353060" lvl="0" marL="457200" rtl="0" algn="l">
              <a:lnSpc>
                <a:spcPct val="115000"/>
              </a:lnSpc>
              <a:spcBef>
                <a:spcPts val="0"/>
              </a:spcBef>
              <a:spcAft>
                <a:spcPts val="0"/>
              </a:spcAft>
              <a:buSzPct val="100000"/>
              <a:buChar char="-"/>
            </a:pPr>
            <a:r>
              <a:rPr lang="en"/>
              <a:t>Legal Constraints</a:t>
            </a:r>
            <a:endParaRPr/>
          </a:p>
          <a:p>
            <a:pPr indent="-353060" lvl="1" marL="1371600" rtl="0" algn="l">
              <a:lnSpc>
                <a:spcPct val="115000"/>
              </a:lnSpc>
              <a:spcBef>
                <a:spcPts val="0"/>
              </a:spcBef>
              <a:spcAft>
                <a:spcPts val="0"/>
              </a:spcAft>
              <a:buSzPct val="100000"/>
              <a:buChar char="-"/>
            </a:pPr>
            <a:r>
              <a:rPr lang="en"/>
              <a:t>We must make sure we make our IP and mechanics distinct enough so that we do not infringe on any copyrights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Review of Progress</a:t>
            </a:r>
            <a:endParaRPr/>
          </a:p>
        </p:txBody>
      </p:sp>
      <p:sp>
        <p:nvSpPr>
          <p:cNvPr id="94" name="Google Shape;94;p19"/>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fontScale="92500" lnSpcReduction="20000"/>
          </a:bodyPr>
          <a:lstStyle/>
          <a:p>
            <a:pPr indent="-393065" lvl="0" marL="457200" rtl="0" algn="l">
              <a:lnSpc>
                <a:spcPct val="115000"/>
              </a:lnSpc>
              <a:spcBef>
                <a:spcPts val="1200"/>
              </a:spcBef>
              <a:spcAft>
                <a:spcPts val="0"/>
              </a:spcAft>
              <a:buSzPct val="100000"/>
              <a:buChar char="-"/>
            </a:pPr>
            <a:r>
              <a:rPr lang="en"/>
              <a:t>Research</a:t>
            </a:r>
            <a:endParaRPr/>
          </a:p>
          <a:p>
            <a:pPr indent="-393065" lvl="0" marL="914400" rtl="0" algn="l">
              <a:lnSpc>
                <a:spcPct val="115000"/>
              </a:lnSpc>
              <a:spcBef>
                <a:spcPts val="0"/>
              </a:spcBef>
              <a:spcAft>
                <a:spcPts val="0"/>
              </a:spcAft>
              <a:buSzPct val="100000"/>
              <a:buChar char="-"/>
            </a:pPr>
            <a:r>
              <a:rPr lang="en"/>
              <a:t>Reviewed various game engines and their traits, selected Godot</a:t>
            </a:r>
            <a:endParaRPr/>
          </a:p>
          <a:p>
            <a:pPr indent="-393065" lvl="0" marL="457200" rtl="0" algn="l">
              <a:lnSpc>
                <a:spcPct val="115000"/>
              </a:lnSpc>
              <a:spcBef>
                <a:spcPts val="0"/>
              </a:spcBef>
              <a:spcAft>
                <a:spcPts val="0"/>
              </a:spcAft>
              <a:buSzPct val="100000"/>
              <a:buChar char="-"/>
            </a:pPr>
            <a:r>
              <a:rPr lang="en"/>
              <a:t>Preparation</a:t>
            </a:r>
            <a:endParaRPr/>
          </a:p>
          <a:p>
            <a:pPr indent="-393065" lvl="0" marL="914400" rtl="0" algn="l">
              <a:lnSpc>
                <a:spcPct val="115000"/>
              </a:lnSpc>
              <a:spcBef>
                <a:spcPts val="0"/>
              </a:spcBef>
              <a:spcAft>
                <a:spcPts val="0"/>
              </a:spcAft>
              <a:buSzPct val="100000"/>
              <a:buChar char="-"/>
            </a:pPr>
            <a:r>
              <a:rPr lang="en"/>
              <a:t>Initial testing and learning of Godot Engine for all team members</a:t>
            </a:r>
            <a:endParaRPr/>
          </a:p>
          <a:p>
            <a:pPr indent="-393065" lvl="0" marL="457200" rtl="0" algn="l">
              <a:lnSpc>
                <a:spcPct val="115000"/>
              </a:lnSpc>
              <a:spcBef>
                <a:spcPts val="0"/>
              </a:spcBef>
              <a:spcAft>
                <a:spcPts val="0"/>
              </a:spcAft>
              <a:buSzPct val="100000"/>
              <a:buChar char="-"/>
            </a:pPr>
            <a:r>
              <a:rPr lang="en"/>
              <a:t>Planning</a:t>
            </a:r>
            <a:endParaRPr/>
          </a:p>
          <a:p>
            <a:pPr indent="-393065" lvl="0" marL="914400" rtl="0" algn="l">
              <a:lnSpc>
                <a:spcPct val="115000"/>
              </a:lnSpc>
              <a:spcBef>
                <a:spcPts val="0"/>
              </a:spcBef>
              <a:spcAft>
                <a:spcPts val="0"/>
              </a:spcAft>
              <a:buSzPct val="100000"/>
              <a:buChar char="-"/>
            </a:pPr>
            <a:r>
              <a:rPr lang="en"/>
              <a:t>Roughly mapped out a software design diagram for major scenes required for game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Expected Accomplishments</a:t>
            </a:r>
            <a:endParaRPr/>
          </a:p>
        </p:txBody>
      </p:sp>
      <p:sp>
        <p:nvSpPr>
          <p:cNvPr id="100" name="Google Shape;100;p20"/>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a:bodyPr>
          <a:lstStyle/>
          <a:p>
            <a:pPr indent="0" lvl="0" marL="457200" rtl="0" algn="l">
              <a:lnSpc>
                <a:spcPct val="95000"/>
              </a:lnSpc>
              <a:spcBef>
                <a:spcPts val="1200"/>
              </a:spcBef>
              <a:spcAft>
                <a:spcPts val="0"/>
              </a:spcAft>
              <a:buNone/>
            </a:pPr>
            <a:r>
              <a:rPr lang="en" sz="2500"/>
              <a:t>By the end of the year, we want to have a proof of concept for our game. This would involve</a:t>
            </a:r>
            <a:endParaRPr sz="2500"/>
          </a:p>
          <a:p>
            <a:pPr indent="-387350" lvl="0" marL="457200" rtl="0" algn="l">
              <a:lnSpc>
                <a:spcPct val="95000"/>
              </a:lnSpc>
              <a:spcBef>
                <a:spcPts val="1200"/>
              </a:spcBef>
              <a:spcAft>
                <a:spcPts val="0"/>
              </a:spcAft>
              <a:buSzPts val="2500"/>
              <a:buChar char="-"/>
            </a:pPr>
            <a:r>
              <a:rPr lang="en" sz="2500"/>
              <a:t>One character with </a:t>
            </a:r>
            <a:r>
              <a:rPr lang="en" sz="2500"/>
              <a:t>very simple abilities</a:t>
            </a:r>
            <a:endParaRPr sz="2500"/>
          </a:p>
          <a:p>
            <a:pPr indent="-387350" lvl="0" marL="457200" rtl="0" algn="l">
              <a:lnSpc>
                <a:spcPct val="95000"/>
              </a:lnSpc>
              <a:spcBef>
                <a:spcPts val="0"/>
              </a:spcBef>
              <a:spcAft>
                <a:spcPts val="0"/>
              </a:spcAft>
              <a:buSzPts val="2500"/>
              <a:buChar char="-"/>
            </a:pPr>
            <a:r>
              <a:rPr lang="en" sz="2500"/>
              <a:t>A very small test stage with collision</a:t>
            </a:r>
            <a:endParaRPr sz="2500"/>
          </a:p>
          <a:p>
            <a:pPr indent="-387350" lvl="0" marL="457200" rtl="0" algn="l">
              <a:lnSpc>
                <a:spcPct val="95000"/>
              </a:lnSpc>
              <a:spcBef>
                <a:spcPts val="0"/>
              </a:spcBef>
              <a:spcAft>
                <a:spcPts val="0"/>
              </a:spcAft>
              <a:buSzPts val="2500"/>
              <a:buChar char="-"/>
            </a:pPr>
            <a:r>
              <a:rPr lang="en" sz="2500"/>
              <a:t>A dummy enemy which the player can interact with. No AI implemented yet</a:t>
            </a:r>
            <a:endParaRPr sz="2500"/>
          </a:p>
          <a:p>
            <a:pPr indent="-387350" lvl="0" marL="457200" rtl="0" algn="l">
              <a:lnSpc>
                <a:spcPct val="95000"/>
              </a:lnSpc>
              <a:spcBef>
                <a:spcPts val="0"/>
              </a:spcBef>
              <a:spcAft>
                <a:spcPts val="0"/>
              </a:spcAft>
              <a:buSzPts val="2500"/>
              <a:buChar char="-"/>
            </a:pPr>
            <a:r>
              <a:rPr lang="en" sz="2500"/>
              <a:t>3 basic items which can be collected and impact player statistics</a:t>
            </a: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Division of Work</a:t>
            </a:r>
            <a:endParaRPr/>
          </a:p>
        </p:txBody>
      </p:sp>
      <p:sp>
        <p:nvSpPr>
          <p:cNvPr id="106" name="Google Shape;106;p21"/>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fontScale="85000" lnSpcReduction="20000"/>
          </a:bodyPr>
          <a:lstStyle/>
          <a:p>
            <a:pPr indent="-379730" lvl="0" marL="457200" rtl="0" algn="l">
              <a:lnSpc>
                <a:spcPct val="115000"/>
              </a:lnSpc>
              <a:spcBef>
                <a:spcPts val="1200"/>
              </a:spcBef>
              <a:spcAft>
                <a:spcPts val="0"/>
              </a:spcAft>
              <a:buSzPct val="100000"/>
              <a:buChar char="-"/>
            </a:pPr>
            <a:r>
              <a:rPr lang="en"/>
              <a:t>General Programming</a:t>
            </a:r>
            <a:endParaRPr/>
          </a:p>
          <a:p>
            <a:pPr indent="-379730" lvl="0" marL="914400" rtl="0" algn="l">
              <a:lnSpc>
                <a:spcPct val="115000"/>
              </a:lnSpc>
              <a:spcBef>
                <a:spcPts val="0"/>
              </a:spcBef>
              <a:spcAft>
                <a:spcPts val="0"/>
              </a:spcAft>
              <a:buSzPct val="100000"/>
              <a:buChar char="-"/>
            </a:pPr>
            <a:r>
              <a:rPr lang="en"/>
              <a:t>All</a:t>
            </a:r>
            <a:endParaRPr/>
          </a:p>
          <a:p>
            <a:pPr indent="-379730" lvl="0" marL="457200" rtl="0" algn="l">
              <a:lnSpc>
                <a:spcPct val="115000"/>
              </a:lnSpc>
              <a:spcBef>
                <a:spcPts val="0"/>
              </a:spcBef>
              <a:spcAft>
                <a:spcPts val="0"/>
              </a:spcAft>
              <a:buSzPct val="100000"/>
              <a:buChar char="-"/>
            </a:pPr>
            <a:r>
              <a:rPr lang="en"/>
              <a:t>VFX (Particle systems, projectiles)</a:t>
            </a:r>
            <a:endParaRPr/>
          </a:p>
          <a:p>
            <a:pPr indent="-379730" lvl="0" marL="914400" rtl="0" algn="l">
              <a:lnSpc>
                <a:spcPct val="115000"/>
              </a:lnSpc>
              <a:spcBef>
                <a:spcPts val="0"/>
              </a:spcBef>
              <a:spcAft>
                <a:spcPts val="0"/>
              </a:spcAft>
              <a:buSzPct val="100000"/>
              <a:buChar char="-"/>
            </a:pPr>
            <a:r>
              <a:rPr lang="en"/>
              <a:t>Hari Koirala</a:t>
            </a:r>
            <a:endParaRPr/>
          </a:p>
          <a:p>
            <a:pPr indent="-379730" lvl="0" marL="457200" rtl="0" algn="l">
              <a:lnSpc>
                <a:spcPct val="115000"/>
              </a:lnSpc>
              <a:spcBef>
                <a:spcPts val="0"/>
              </a:spcBef>
              <a:spcAft>
                <a:spcPts val="0"/>
              </a:spcAft>
              <a:buSzPct val="100000"/>
              <a:buChar char="-"/>
            </a:pPr>
            <a:r>
              <a:rPr lang="en"/>
              <a:t>Art &amp; Sound Design</a:t>
            </a:r>
            <a:endParaRPr/>
          </a:p>
          <a:p>
            <a:pPr indent="-379730" lvl="0" marL="914400" rtl="0" algn="l">
              <a:lnSpc>
                <a:spcPct val="115000"/>
              </a:lnSpc>
              <a:spcBef>
                <a:spcPts val="0"/>
              </a:spcBef>
              <a:spcAft>
                <a:spcPts val="0"/>
              </a:spcAft>
              <a:buSzPct val="100000"/>
              <a:buChar char="-"/>
            </a:pPr>
            <a:r>
              <a:rPr lang="en"/>
              <a:t>Vitta Silberberg</a:t>
            </a:r>
            <a:r>
              <a:rPr lang="en"/>
              <a:t> </a:t>
            </a:r>
            <a:endParaRPr/>
          </a:p>
          <a:p>
            <a:pPr indent="-379730" lvl="0" marL="457200" rtl="0" algn="l">
              <a:lnSpc>
                <a:spcPct val="115000"/>
              </a:lnSpc>
              <a:spcBef>
                <a:spcPts val="0"/>
              </a:spcBef>
              <a:spcAft>
                <a:spcPts val="0"/>
              </a:spcAft>
              <a:buSzPct val="100000"/>
              <a:buChar char="-"/>
            </a:pPr>
            <a:r>
              <a:rPr lang="en"/>
              <a:t>Optimization / </a:t>
            </a:r>
            <a:r>
              <a:rPr lang="en"/>
              <a:t>Document Project Progression</a:t>
            </a:r>
            <a:endParaRPr/>
          </a:p>
          <a:p>
            <a:pPr indent="-379730" lvl="0" marL="914400" rtl="0" algn="l">
              <a:lnSpc>
                <a:spcPct val="115000"/>
              </a:lnSpc>
              <a:spcBef>
                <a:spcPts val="0"/>
              </a:spcBef>
              <a:spcAft>
                <a:spcPts val="0"/>
              </a:spcAft>
              <a:buSzPct val="100000"/>
              <a:buChar char="-"/>
            </a:pPr>
            <a:r>
              <a:rPr lang="en"/>
              <a:t>Matthew Estes</a:t>
            </a:r>
            <a:endParaRPr/>
          </a:p>
          <a:p>
            <a:pPr indent="-379730" lvl="0" marL="457200" rtl="0" algn="l">
              <a:lnSpc>
                <a:spcPct val="115000"/>
              </a:lnSpc>
              <a:spcBef>
                <a:spcPts val="0"/>
              </a:spcBef>
              <a:spcAft>
                <a:spcPts val="0"/>
              </a:spcAft>
              <a:buSzPct val="100000"/>
              <a:buChar char="-"/>
            </a:pPr>
            <a:r>
              <a:rPr lang="en"/>
              <a:t>UI / Menuing Design</a:t>
            </a:r>
            <a:endParaRPr/>
          </a:p>
          <a:p>
            <a:pPr indent="-379730" lvl="0" marL="914400" rtl="0" algn="l">
              <a:lnSpc>
                <a:spcPct val="115000"/>
              </a:lnSpc>
              <a:spcBef>
                <a:spcPts val="0"/>
              </a:spcBef>
              <a:spcAft>
                <a:spcPts val="0"/>
              </a:spcAft>
              <a:buSzPct val="100000"/>
              <a:buChar char="-"/>
            </a:pPr>
            <a:r>
              <a:rPr lang="en"/>
              <a:t>Bailin Zhen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ctrTitle"/>
          </p:nvPr>
        </p:nvSpPr>
        <p:spPr>
          <a:xfrm>
            <a:off x="311700" y="113025"/>
            <a:ext cx="8520600" cy="89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Expected Demo</a:t>
            </a:r>
            <a:endParaRPr/>
          </a:p>
        </p:txBody>
      </p:sp>
      <p:sp>
        <p:nvSpPr>
          <p:cNvPr id="112" name="Google Shape;112;p22"/>
          <p:cNvSpPr txBox="1"/>
          <p:nvPr>
            <p:ph idx="1" type="subTitle"/>
          </p:nvPr>
        </p:nvSpPr>
        <p:spPr>
          <a:xfrm>
            <a:off x="311700" y="1120750"/>
            <a:ext cx="8520600" cy="3744900"/>
          </a:xfrm>
          <a:prstGeom prst="rect">
            <a:avLst/>
          </a:prstGeom>
        </p:spPr>
        <p:txBody>
          <a:bodyPr anchorCtr="0" anchor="t" bIns="91425" lIns="91425" spcFirstLastPara="1" rIns="91425" wrap="square" tIns="91425">
            <a:normAutofit fontScale="70000" lnSpcReduction="20000"/>
          </a:bodyPr>
          <a:lstStyle/>
          <a:p>
            <a:pPr indent="-321945" lvl="0" marL="457200" rtl="0" algn="l">
              <a:lnSpc>
                <a:spcPct val="115000"/>
              </a:lnSpc>
              <a:spcBef>
                <a:spcPts val="1200"/>
              </a:spcBef>
              <a:spcAft>
                <a:spcPts val="0"/>
              </a:spcAft>
              <a:buSzPct val="100000"/>
              <a:buChar char="-"/>
            </a:pPr>
            <a:r>
              <a:rPr lang="en" sz="2100"/>
              <a:t>Minimum presentable product would be a playable game with</a:t>
            </a:r>
            <a:endParaRPr sz="2100"/>
          </a:p>
          <a:p>
            <a:pPr indent="-321944" lvl="0" marL="914400" rtl="0" algn="l">
              <a:lnSpc>
                <a:spcPct val="115000"/>
              </a:lnSpc>
              <a:spcBef>
                <a:spcPts val="0"/>
              </a:spcBef>
              <a:spcAft>
                <a:spcPts val="0"/>
              </a:spcAft>
              <a:buSzPct val="100000"/>
              <a:buChar char="-"/>
            </a:pPr>
            <a:r>
              <a:rPr lang="en" sz="2100"/>
              <a:t>1 Full Character, with 4 abilities</a:t>
            </a:r>
            <a:endParaRPr sz="2100"/>
          </a:p>
          <a:p>
            <a:pPr indent="-321944" lvl="0" marL="914400" rtl="0" algn="l">
              <a:lnSpc>
                <a:spcPct val="115000"/>
              </a:lnSpc>
              <a:spcBef>
                <a:spcPts val="0"/>
              </a:spcBef>
              <a:spcAft>
                <a:spcPts val="0"/>
              </a:spcAft>
              <a:buSzPct val="100000"/>
              <a:buChar char="-"/>
            </a:pPr>
            <a:r>
              <a:rPr lang="en" sz="2100"/>
              <a:t>1 Large Map</a:t>
            </a:r>
            <a:endParaRPr sz="2100"/>
          </a:p>
          <a:p>
            <a:pPr indent="-321944" lvl="0" marL="914400" rtl="0" algn="l">
              <a:lnSpc>
                <a:spcPct val="115000"/>
              </a:lnSpc>
              <a:spcBef>
                <a:spcPts val="0"/>
              </a:spcBef>
              <a:spcAft>
                <a:spcPts val="0"/>
              </a:spcAft>
              <a:buSzPct val="100000"/>
              <a:buChar char="-"/>
            </a:pPr>
            <a:r>
              <a:rPr lang="en" sz="2100"/>
              <a:t>1 Boss</a:t>
            </a:r>
            <a:endParaRPr sz="2100"/>
          </a:p>
          <a:p>
            <a:pPr indent="-321944" lvl="0" marL="914400" rtl="0" algn="l">
              <a:lnSpc>
                <a:spcPct val="115000"/>
              </a:lnSpc>
              <a:spcBef>
                <a:spcPts val="0"/>
              </a:spcBef>
              <a:spcAft>
                <a:spcPts val="0"/>
              </a:spcAft>
              <a:buSzPct val="100000"/>
              <a:buChar char="-"/>
            </a:pPr>
            <a:r>
              <a:rPr lang="en" sz="2100"/>
              <a:t>~5 Normal enemies</a:t>
            </a:r>
            <a:endParaRPr sz="2100"/>
          </a:p>
          <a:p>
            <a:pPr indent="-321944" lvl="0" marL="914400" rtl="0" algn="l">
              <a:lnSpc>
                <a:spcPct val="115000"/>
              </a:lnSpc>
              <a:spcBef>
                <a:spcPts val="0"/>
              </a:spcBef>
              <a:spcAft>
                <a:spcPts val="0"/>
              </a:spcAft>
              <a:buSzPct val="100000"/>
              <a:buChar char="-"/>
            </a:pPr>
            <a:r>
              <a:rPr lang="en" sz="2100"/>
              <a:t>~15 Items</a:t>
            </a:r>
            <a:endParaRPr sz="2100"/>
          </a:p>
          <a:p>
            <a:pPr indent="-321945" lvl="0" marL="457200" rtl="0" algn="l">
              <a:lnSpc>
                <a:spcPct val="115000"/>
              </a:lnSpc>
              <a:spcBef>
                <a:spcPts val="0"/>
              </a:spcBef>
              <a:spcAft>
                <a:spcPts val="0"/>
              </a:spcAft>
              <a:buSzPct val="100000"/>
              <a:buChar char="-"/>
            </a:pPr>
            <a:r>
              <a:rPr lang="en" sz="2100"/>
              <a:t>Expected product</a:t>
            </a:r>
            <a:endParaRPr sz="2100"/>
          </a:p>
          <a:p>
            <a:pPr indent="-321944" lvl="0" marL="914400" rtl="0" algn="l">
              <a:lnSpc>
                <a:spcPct val="115000"/>
              </a:lnSpc>
              <a:spcBef>
                <a:spcPts val="0"/>
              </a:spcBef>
              <a:spcAft>
                <a:spcPts val="0"/>
              </a:spcAft>
              <a:buSzPct val="100000"/>
              <a:buChar char="-"/>
            </a:pPr>
            <a:r>
              <a:rPr lang="en" sz="2100"/>
              <a:t>4</a:t>
            </a:r>
            <a:r>
              <a:rPr lang="en" sz="2100"/>
              <a:t> Full Characters</a:t>
            </a:r>
            <a:endParaRPr sz="2100"/>
          </a:p>
          <a:p>
            <a:pPr indent="-321944" lvl="0" marL="914400" rtl="0" algn="l">
              <a:lnSpc>
                <a:spcPct val="115000"/>
              </a:lnSpc>
              <a:spcBef>
                <a:spcPts val="0"/>
              </a:spcBef>
              <a:spcAft>
                <a:spcPts val="0"/>
              </a:spcAft>
              <a:buSzPct val="100000"/>
              <a:buChar char="-"/>
            </a:pPr>
            <a:r>
              <a:rPr lang="en" sz="2100"/>
              <a:t>3 Maps</a:t>
            </a:r>
            <a:endParaRPr sz="2100"/>
          </a:p>
          <a:p>
            <a:pPr indent="-321944" lvl="0" marL="914400" rtl="0" algn="l">
              <a:lnSpc>
                <a:spcPct val="115000"/>
              </a:lnSpc>
              <a:spcBef>
                <a:spcPts val="0"/>
              </a:spcBef>
              <a:spcAft>
                <a:spcPts val="0"/>
              </a:spcAft>
              <a:buSzPct val="100000"/>
              <a:buChar char="-"/>
            </a:pPr>
            <a:r>
              <a:rPr lang="en" sz="2100"/>
              <a:t>3 Bosses</a:t>
            </a:r>
            <a:endParaRPr sz="2100"/>
          </a:p>
          <a:p>
            <a:pPr indent="-321944" lvl="0" marL="914400" rtl="0" algn="l">
              <a:lnSpc>
                <a:spcPct val="115000"/>
              </a:lnSpc>
              <a:spcBef>
                <a:spcPts val="0"/>
              </a:spcBef>
              <a:spcAft>
                <a:spcPts val="0"/>
              </a:spcAft>
              <a:buSzPct val="100000"/>
              <a:buChar char="-"/>
            </a:pPr>
            <a:r>
              <a:rPr lang="en" sz="2100"/>
              <a:t>~15 Normal enemies</a:t>
            </a:r>
            <a:endParaRPr sz="2100"/>
          </a:p>
          <a:p>
            <a:pPr indent="-321944" lvl="0" marL="914400" rtl="0" algn="l">
              <a:lnSpc>
                <a:spcPct val="115000"/>
              </a:lnSpc>
              <a:spcBef>
                <a:spcPts val="0"/>
              </a:spcBef>
              <a:spcAft>
                <a:spcPts val="0"/>
              </a:spcAft>
              <a:buSzPct val="100000"/>
              <a:buChar char="-"/>
            </a:pPr>
            <a:r>
              <a:rPr lang="en" sz="2100"/>
              <a:t>~45 Items</a:t>
            </a:r>
            <a:endParaRPr sz="2100"/>
          </a:p>
          <a:p>
            <a:pPr indent="-321945" lvl="0" marL="457200" rtl="0" algn="l">
              <a:lnSpc>
                <a:spcPct val="115000"/>
              </a:lnSpc>
              <a:spcBef>
                <a:spcPts val="0"/>
              </a:spcBef>
              <a:spcAft>
                <a:spcPts val="0"/>
              </a:spcAft>
              <a:buSzPct val="100000"/>
              <a:buChar char="-"/>
            </a:pPr>
            <a:r>
              <a:rPr lang="en" sz="2100"/>
              <a:t>Stretch Goals</a:t>
            </a:r>
            <a:endParaRPr sz="2100"/>
          </a:p>
          <a:p>
            <a:pPr indent="-321944" lvl="0" marL="914400" rtl="0" algn="l">
              <a:lnSpc>
                <a:spcPct val="115000"/>
              </a:lnSpc>
              <a:spcBef>
                <a:spcPts val="0"/>
              </a:spcBef>
              <a:spcAft>
                <a:spcPts val="0"/>
              </a:spcAft>
              <a:buSzPct val="100000"/>
              <a:buChar char="-"/>
            </a:pPr>
            <a:r>
              <a:rPr lang="en" sz="2100"/>
              <a:t>Additional Content</a:t>
            </a:r>
            <a:endParaRPr sz="2100"/>
          </a:p>
          <a:p>
            <a:pPr indent="-321944" lvl="0" marL="914400" rtl="0" algn="l">
              <a:lnSpc>
                <a:spcPct val="115000"/>
              </a:lnSpc>
              <a:spcBef>
                <a:spcPts val="0"/>
              </a:spcBef>
              <a:spcAft>
                <a:spcPts val="0"/>
              </a:spcAft>
              <a:buSzPct val="100000"/>
              <a:buChar char="-"/>
            </a:pPr>
            <a:r>
              <a:rPr lang="en" sz="2100"/>
              <a:t>Modular Ability Sets for Characters</a:t>
            </a:r>
            <a:endParaRPr sz="2100"/>
          </a:p>
          <a:p>
            <a:pPr indent="-321944" lvl="0" marL="914400" rtl="0" algn="l">
              <a:lnSpc>
                <a:spcPct val="115000"/>
              </a:lnSpc>
              <a:spcBef>
                <a:spcPts val="0"/>
              </a:spcBef>
              <a:spcAft>
                <a:spcPts val="0"/>
              </a:spcAft>
              <a:buSzPct val="100000"/>
              <a:buChar char="-"/>
            </a:pPr>
            <a:r>
              <a:rPr lang="en" sz="2100"/>
              <a:t>Multiplayer</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